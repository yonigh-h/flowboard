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1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822960"/>
            <a:ext cx="502920" cy="2194560"/>
          </a:xfrm>
          <a:prstGeom prst="roundRect">
            <a:avLst>
              <a:gd name="adj" fmla="val 14545"/>
            </a:avLst>
          </a:prstGeom>
          <a:solidFill>
            <a:srgbClr val="3454D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64040" y="1143000"/>
            <a:ext cx="502920" cy="1737360"/>
          </a:xfrm>
          <a:prstGeom prst="roundRect">
            <a:avLst>
              <a:gd name="adj" fmla="val 14545"/>
            </a:avLst>
          </a:prstGeom>
          <a:solidFill>
            <a:srgbClr val="E1701A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822960"/>
            <a:ext cx="502920" cy="1280160"/>
          </a:xfrm>
          <a:prstGeom prst="roundRect">
            <a:avLst>
              <a:gd name="adj" fmla="val 14545"/>
            </a:avLst>
          </a:prstGeom>
          <a:solidFill>
            <a:srgbClr val="5C6685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384280" y="1143000"/>
            <a:ext cx="502920" cy="2194560"/>
          </a:xfrm>
          <a:prstGeom prst="roundRect">
            <a:avLst>
              <a:gd name="adj" fmla="val 14545"/>
            </a:avLst>
          </a:prstGeom>
          <a:solidFill>
            <a:srgbClr val="2E7D32">
              <a:alpha val="4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FlowBoard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מדריך יכולות והרשאות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2011680" cy="0"/>
          </a:xfrm>
          <a:prstGeom prst="line">
            <a:avLst/>
          </a:prstGeom>
          <a:noFill/>
          <a:ln w="38100">
            <a:solidFill>
              <a:srgbClr val="E170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251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עמוד במערכת: מה יש בו, ומי מורשה לגשת אליו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345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תזכורת: ארבעה תפקידים, בסולם מצטבר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בכל טבלה בהמשך, תג הצבע ליד שם העמוד מציין את רמת הגישה המינימלית הנדרשת — וכולל אוטומטית את כל התפקידים שמעליו.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0" y="22860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0" y="2286000"/>
            <a:ext cx="2606040" cy="109728"/>
          </a:xfrm>
          <a:prstGeom prst="roundRect">
            <a:avLst/>
          </a:prstGeom>
          <a:solidFill>
            <a:srgbClr val="2E7D32"/>
          </a:solidFill>
          <a:ln/>
        </p:spPr>
      </p:sp>
      <p:sp>
        <p:nvSpPr>
          <p:cNvPr id="7" name="Shape 5"/>
          <p:cNvSpPr/>
          <p:nvPr/>
        </p:nvSpPr>
        <p:spPr>
          <a:xfrm>
            <a:off x="10081260" y="26517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62972" y="2651760"/>
            <a:ext cx="768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326880" y="3611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עובד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326880" y="4023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372600" y="4480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גישה ל: העבודה שהוקצתה לו בלבד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22860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2286000"/>
            <a:ext cx="2606040" cy="109728"/>
          </a:xfrm>
          <a:prstGeom prst="roundRect">
            <a:avLst/>
          </a:prstGeom>
          <a:solidFill>
            <a:srgbClr val="3454D1"/>
          </a:solidFill>
          <a:ln/>
        </p:spPr>
      </p:sp>
      <p:sp>
        <p:nvSpPr>
          <p:cNvPr id="14" name="Shape 12"/>
          <p:cNvSpPr/>
          <p:nvPr/>
        </p:nvSpPr>
        <p:spPr>
          <a:xfrm>
            <a:off x="7246620" y="2651760"/>
            <a:ext cx="731520" cy="731520"/>
          </a:xfrm>
          <a:prstGeom prst="ellipse">
            <a:avLst/>
          </a:prstGeom>
          <a:solidFill>
            <a:srgbClr val="3454D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28332" y="2651760"/>
            <a:ext cx="768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611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מנהל פרויקט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023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480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גישה ל: הפרויקטים שהוא מנהל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0" y="22860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0" y="2286000"/>
            <a:ext cx="2606040" cy="109728"/>
          </a:xfrm>
          <a:prstGeom prst="roundRect">
            <a:avLst/>
          </a:prstGeom>
          <a:solidFill>
            <a:srgbClr val="E1701A"/>
          </a:solidFill>
          <a:ln/>
        </p:spPr>
      </p:sp>
      <p:sp>
        <p:nvSpPr>
          <p:cNvPr id="21" name="Shape 19"/>
          <p:cNvSpPr/>
          <p:nvPr/>
        </p:nvSpPr>
        <p:spPr>
          <a:xfrm>
            <a:off x="4411980" y="2651760"/>
            <a:ext cx="731520" cy="731520"/>
          </a:xfrm>
          <a:prstGeom prst="ellipse">
            <a:avLst/>
          </a:prstGeom>
          <a:solidFill>
            <a:srgbClr val="E1701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393692" y="2651760"/>
            <a:ext cx="768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611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מנהל ארגון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4023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Admin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703320" y="4480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גישה ל: כל הארגון שלו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22860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2286000"/>
            <a:ext cx="2606040" cy="109728"/>
          </a:xfrm>
          <a:prstGeom prst="roundRect">
            <a:avLst/>
          </a:prstGeom>
          <a:solidFill>
            <a:srgbClr val="111A2E"/>
          </a:solidFill>
          <a:ln/>
        </p:spPr>
      </p:sp>
      <p:sp>
        <p:nvSpPr>
          <p:cNvPr id="28" name="Shape 26"/>
          <p:cNvSpPr/>
          <p:nvPr/>
        </p:nvSpPr>
        <p:spPr>
          <a:xfrm>
            <a:off x="1577340" y="2651760"/>
            <a:ext cx="731520" cy="731520"/>
          </a:xfrm>
          <a:prstGeom prst="ellipse">
            <a:avLst/>
          </a:prstGeom>
          <a:solidFill>
            <a:srgbClr val="111A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559052" y="2651760"/>
            <a:ext cx="768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3611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מנהל מערכת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023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4480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גישה ל: כל הארגונים בפלטפורמה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FlowBoard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345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מבנה הניווט — מי רואה איזו קבוצה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28632" y="2002536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28632" y="200253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Employee+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783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488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לוח אישי, הפרויקטים שלי, המשימות שלי, התראות, פרופיל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9087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28632" y="3099816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3454D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28632" y="309981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Manager+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8803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45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2461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לוח ניהולי, ניהול פרויקטים, עומס צוות, דוחות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9087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28632" y="4197096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E170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28632" y="419709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Admin+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9776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1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343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 משתמשים, תפקידים, הגדרות ארגון, יומן ביקורת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9087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28632" y="5294376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111A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28632" y="529437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Admin+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074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440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ארגונים ומערכת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FlowBoard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345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עמודי מרחב עבודה אישי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70532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7053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Employee+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536192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הלוח האישי שלי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92808"/>
            <a:ext cx="8577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ברכה + פס התקדמות ליעד שבועי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ארבעה מדדים: משימות שהוקצו, מתקרבות, באיחור, אחוז השלמה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רשימות: משימות באיחור, מתקרבות, הושלמו לאחרונה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התראות אחרונות + עד 3 מהפרויקטים שלי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80944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3534156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53415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Employee+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3099816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הפרויקטים שלי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456432"/>
            <a:ext cx="8577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 כל הפרויקטים שאני חבר בהם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מדדי סיכום: סה"כ, פעילים, בסיכון, הושלמו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חיפוש טקסטואלי וסינון לפי סטטוס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544568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5097780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09778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Employee+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466344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המשימות שלי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020056"/>
            <a:ext cx="8577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המשימות שלי על פני כל הפרויקטים יחד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סינון: פרויקט, עדיפות, סטטוס, באיחור/חסום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מיון לפי עדיפות, תאריך יעד, או עדכון אחרון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FlowBoard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345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עמודי מרחב עבודה אישי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73452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47345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Employee+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947672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מרכז ההתראות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04288"/>
            <a:ext cx="8577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היסטוריית התראות מלאה: כרטיסיות "הכול" ו"לא נקראו"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לחיצה על התראה — מסמנת כנקרא וקופצת למשימה/פרויקט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כפתור "סמן הכול" כנקרא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575304"/>
            <a:ext cx="1109167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4219956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21995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Employee+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3694176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פרופיל והגדרות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050792"/>
            <a:ext cx="8577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עריכת שם, שם משפחה, תפקיד תעסוקתי (אימייל נעול)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החלפת סיסמה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העדפות התראה לפי סוג אירוע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FlowBoard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345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PAGES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עמודים שנפתחים מתוך העבודה השוטפת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64792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6479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Employee+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490472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לוח הקנבן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47088"/>
            <a:ext cx="8577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גרירה ושחרור בין עמודות — עובד גורר רק כרטיסים שהוקצו לו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סינון: אחראי, עדיפות, טקסט חופשי, "המשימות שלי בלבד"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התרעת חריגה ממגבלת כמות משימות בעמודה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15184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3008376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0837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Employee+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734056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פרטי משימה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090672"/>
            <a:ext cx="8577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תת-משימות, תלויות חוסמות, קבצים, תגובות, יומן פעילות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עריכת סטטוס תמיד זמינה; עדיפות/אחראי/חסימה — למנהלים בלבד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58768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251960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2519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Employee+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397764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סקירת פרויקט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334256"/>
            <a:ext cx="8577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סטטוס, סיכון, התקדמות, גורמי סיכון מפורטים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לשוניות: סקירה, קבצים (מכל המשימות), פעילות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102352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5495544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3454D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49554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Manager+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651760" y="5221224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 צוות פרויקט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577840"/>
            <a:ext cx="8577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הוספה/הסרה של חברי צוות מהפרויקט הספציפי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FlowBoard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345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עמודי ניהול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313432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3454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31343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Manager+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719072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הלוח הניהולי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75688"/>
            <a:ext cx="8577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תמונת מצב על כל תיק הפרויקטים בבת אחת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בריאות פרויקטים, משימות בעדיפות, עומס צוות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פיד פעילות ארגוני חי בסרגל הצד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483864"/>
            <a:ext cx="1109167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4197096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3454D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9709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Manager+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3602736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 פרויקטים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959352"/>
            <a:ext cx="8577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טבלת כל הפרויקטים (כולל ארכיון), חיפוש וסינון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יצירה, עריכה, ארכוב/שחזור פרויקט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FlowBoard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345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עמודי ניהול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73452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3454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47345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Manager+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947672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עומס עבודה של הצוות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04288"/>
            <a:ext cx="8577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פתוחות מול באיחור לכל אדם, בגרף עמודות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תג "מעל קיבולת" כשחורגים מהסף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575304"/>
            <a:ext cx="1109167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4219956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3454D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21995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Manager+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3694176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דוחות וניתוחים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050792"/>
            <a:ext cx="8577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סינון: פרויקט, משתמש, טווח תאריכים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מתוכנן מול בפועל; דוח התקדמות פרויקטים ופעילות משתמשים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FlowBoard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345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עמודי ארגון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313432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E170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31343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Admin+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719072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 משתמשים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75688"/>
            <a:ext cx="8577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מדריך חברי הארגון המלא, חיפוש וסינון לפי סטטוס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עריכת תפקידים (כל שילוב), השעיה/הפעלה, הסרה מהארגון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483864"/>
            <a:ext cx="1109167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4197096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E170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9709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Admin+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3602736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תפקידים והרשאות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959352"/>
            <a:ext cx="8577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ארבעה כרטיסי תפקיד + מטריצת הרשאות מלאה לקריאה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FlowBoard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345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עמודי ארגון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313432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E170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31343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Admin+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719072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הגדרות ארגון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75688"/>
            <a:ext cx="8577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כללי: שם, מיתוג (+ עוזר מיתוג), תוכנית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זרימת עבודה: עמודות ברירת המחדל לפרויקט חדש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כללי אוטומציה: יצירה, עריכה, הפעלה/כיבוי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483864"/>
            <a:ext cx="1109167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4197096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E170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9709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Admin+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3602736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יומן ביקורת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959352"/>
            <a:ext cx="8577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טבלה כרונולוגית של כל פעולה משמעותית בארגון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חיפוש וסינון לפי סוג פעולה ולפי מבצע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FlowBoard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345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 פלטפורמה — מנהל מערכת בלבד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9167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770632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111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77063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Admin+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2130552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ארגונים ומערכת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87168"/>
            <a:ext cx="8577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מדדים חוצי-פלטפורמה: ארגונים, סה"כ משתמשים, סה"כ פרויקטים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כרטיסיית ארגונים: טבלת כל הארגונים + השעיה/הפעלה</a:t>
            </a:r>
            <a:endParaRPr lang="en-US" sz="1100" dirty="0"/>
          </a:p>
          <a:p>
            <a:pPr algn="r"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כרטיסיית פעילות מערכת: יומן ביקורת חוצה-ארגונים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FlowBoard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345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SIGN-IN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מסכי כניסה — פתוחים לכולם, בלי תפקיד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0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326880" y="2286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כניסה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345168" y="278892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אימייל וסיסמה, הצגת/הסתרת סיסמה, כפתורי חשבונות דמו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2286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הרשמה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10528" y="278892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הקמת ארגון חדש, או הצטרפות לארגון קיים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57600" y="2286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שכחתי סיסמה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278892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שליחת קישור איפוס לאימייל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8900" dist="25400" dir="5400000">
              <a:srgbClr val="1B244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2286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איפוס סיסמה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278892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קביעת סיסמה חדשה מתוך הקישור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FlowBoard  |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8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העמודים, במבט אחד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254996" y="182880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B2440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28148" y="18836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הלוח האישי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882628" y="2048256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Shape 5"/>
          <p:cNvSpPr/>
          <p:nvPr/>
        </p:nvSpPr>
        <p:spPr>
          <a:xfrm>
            <a:off x="8206740" y="182880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B2440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79892" y="18836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הפרויקטים שלי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834372" y="2048256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0" name="Shape 8"/>
          <p:cNvSpPr/>
          <p:nvPr/>
        </p:nvSpPr>
        <p:spPr>
          <a:xfrm>
            <a:off x="6158484" y="182880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B2440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1636" y="18836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המשימות שלי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86116" y="2048256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0228" y="182880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B2440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83380" y="18836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התראות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37860" y="2048256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Shape 14"/>
          <p:cNvSpPr/>
          <p:nvPr/>
        </p:nvSpPr>
        <p:spPr>
          <a:xfrm>
            <a:off x="2061972" y="182880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B2440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35124" y="18836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פרופיל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89604" y="2048256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16" y="182880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B2440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" y="18836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לוח קנבן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41348" y="2048256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54996" y="2523744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B2440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328148" y="2578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פרטי משימה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882628" y="2743200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5" name="Shape 23"/>
          <p:cNvSpPr/>
          <p:nvPr/>
        </p:nvSpPr>
        <p:spPr>
          <a:xfrm>
            <a:off x="8206740" y="2523744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B2440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79892" y="2578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סקירת פרויקט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834372" y="2743200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8" name="Shape 26"/>
          <p:cNvSpPr/>
          <p:nvPr/>
        </p:nvSpPr>
        <p:spPr>
          <a:xfrm>
            <a:off x="6158484" y="2523744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B2440"/>
          </a:solidFill>
          <a:ln w="19050">
            <a:solidFill>
              <a:srgbClr val="3454D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1636" y="2578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 צוות פרויקט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86116" y="2743200"/>
            <a:ext cx="128016" cy="128016"/>
          </a:xfrm>
          <a:prstGeom prst="ellipse">
            <a:avLst/>
          </a:prstGeom>
          <a:solidFill>
            <a:srgbClr val="3454D1"/>
          </a:solidFill>
          <a:ln/>
        </p:spPr>
      </p:sp>
      <p:sp>
        <p:nvSpPr>
          <p:cNvPr id="31" name="Shape 29"/>
          <p:cNvSpPr/>
          <p:nvPr/>
        </p:nvSpPr>
        <p:spPr>
          <a:xfrm>
            <a:off x="4110228" y="2523744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B2440"/>
          </a:solidFill>
          <a:ln w="19050">
            <a:solidFill>
              <a:srgbClr val="3454D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83380" y="2578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לוח ניהולי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37860" y="2743200"/>
            <a:ext cx="128016" cy="128016"/>
          </a:xfrm>
          <a:prstGeom prst="ellipse">
            <a:avLst/>
          </a:prstGeom>
          <a:solidFill>
            <a:srgbClr val="3454D1"/>
          </a:solidFill>
          <a:ln/>
        </p:spPr>
      </p:sp>
      <p:sp>
        <p:nvSpPr>
          <p:cNvPr id="34" name="Shape 32"/>
          <p:cNvSpPr/>
          <p:nvPr/>
        </p:nvSpPr>
        <p:spPr>
          <a:xfrm>
            <a:off x="2061972" y="2523744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B2440"/>
          </a:solidFill>
          <a:ln w="19050">
            <a:solidFill>
              <a:srgbClr val="3454D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135124" y="2578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 פרויקטים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89604" y="2743200"/>
            <a:ext cx="128016" cy="128016"/>
          </a:xfrm>
          <a:prstGeom prst="ellipse">
            <a:avLst/>
          </a:prstGeom>
          <a:solidFill>
            <a:srgbClr val="3454D1"/>
          </a:solidFill>
          <a:ln/>
        </p:spPr>
      </p:sp>
      <p:sp>
        <p:nvSpPr>
          <p:cNvPr id="37" name="Shape 35"/>
          <p:cNvSpPr/>
          <p:nvPr/>
        </p:nvSpPr>
        <p:spPr>
          <a:xfrm>
            <a:off x="13716" y="2523744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B2440"/>
          </a:solidFill>
          <a:ln w="19050">
            <a:solidFill>
              <a:srgbClr val="3454D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6868" y="2578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עומס צוות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641348" y="2743200"/>
            <a:ext cx="128016" cy="128016"/>
          </a:xfrm>
          <a:prstGeom prst="ellipse">
            <a:avLst/>
          </a:prstGeom>
          <a:solidFill>
            <a:srgbClr val="3454D1"/>
          </a:solidFill>
          <a:ln/>
        </p:spPr>
      </p:sp>
      <p:sp>
        <p:nvSpPr>
          <p:cNvPr id="40" name="Shape 38"/>
          <p:cNvSpPr/>
          <p:nvPr/>
        </p:nvSpPr>
        <p:spPr>
          <a:xfrm>
            <a:off x="10254996" y="3218688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B2440"/>
          </a:solidFill>
          <a:ln w="19050">
            <a:solidFill>
              <a:srgbClr val="3454D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328148" y="3273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דוחות וניתוחים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1882628" y="3438144"/>
            <a:ext cx="128016" cy="128016"/>
          </a:xfrm>
          <a:prstGeom prst="ellipse">
            <a:avLst/>
          </a:prstGeom>
          <a:solidFill>
            <a:srgbClr val="3454D1"/>
          </a:solidFill>
          <a:ln/>
        </p:spPr>
      </p:sp>
      <p:sp>
        <p:nvSpPr>
          <p:cNvPr id="43" name="Shape 41"/>
          <p:cNvSpPr/>
          <p:nvPr/>
        </p:nvSpPr>
        <p:spPr>
          <a:xfrm>
            <a:off x="8206740" y="3218688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B2440"/>
          </a:solidFill>
          <a:ln w="19050">
            <a:solidFill>
              <a:srgbClr val="E1701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79892" y="3273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 משתמשים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834372" y="3438144"/>
            <a:ext cx="128016" cy="128016"/>
          </a:xfrm>
          <a:prstGeom prst="ellipse">
            <a:avLst/>
          </a:prstGeom>
          <a:solidFill>
            <a:srgbClr val="E1701A"/>
          </a:solidFill>
          <a:ln/>
        </p:spPr>
      </p:sp>
      <p:sp>
        <p:nvSpPr>
          <p:cNvPr id="46" name="Shape 44"/>
          <p:cNvSpPr/>
          <p:nvPr/>
        </p:nvSpPr>
        <p:spPr>
          <a:xfrm>
            <a:off x="6158484" y="3218688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B2440"/>
          </a:solidFill>
          <a:ln w="19050">
            <a:solidFill>
              <a:srgbClr val="E1701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31636" y="3273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תפקידים והרשאות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786116" y="3438144"/>
            <a:ext cx="128016" cy="128016"/>
          </a:xfrm>
          <a:prstGeom prst="ellipse">
            <a:avLst/>
          </a:prstGeom>
          <a:solidFill>
            <a:srgbClr val="E1701A"/>
          </a:solidFill>
          <a:ln/>
        </p:spPr>
      </p:sp>
      <p:sp>
        <p:nvSpPr>
          <p:cNvPr id="49" name="Shape 47"/>
          <p:cNvSpPr/>
          <p:nvPr/>
        </p:nvSpPr>
        <p:spPr>
          <a:xfrm>
            <a:off x="4110228" y="3218688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B2440"/>
          </a:solidFill>
          <a:ln w="19050">
            <a:solidFill>
              <a:srgbClr val="E1701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183380" y="3273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הגדרות ארגון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737860" y="3438144"/>
            <a:ext cx="128016" cy="128016"/>
          </a:xfrm>
          <a:prstGeom prst="ellipse">
            <a:avLst/>
          </a:prstGeom>
          <a:solidFill>
            <a:srgbClr val="E1701A"/>
          </a:solidFill>
          <a:ln/>
        </p:spPr>
      </p:sp>
      <p:sp>
        <p:nvSpPr>
          <p:cNvPr id="52" name="Shape 50"/>
          <p:cNvSpPr/>
          <p:nvPr/>
        </p:nvSpPr>
        <p:spPr>
          <a:xfrm>
            <a:off x="2061972" y="3218688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B2440"/>
          </a:solidFill>
          <a:ln w="19050">
            <a:solidFill>
              <a:srgbClr val="E1701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135124" y="3273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יומן ביקורת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89604" y="3438144"/>
            <a:ext cx="128016" cy="128016"/>
          </a:xfrm>
          <a:prstGeom prst="ellipse">
            <a:avLst/>
          </a:prstGeom>
          <a:solidFill>
            <a:srgbClr val="E1701A"/>
          </a:solidFill>
          <a:ln/>
        </p:spPr>
      </p:sp>
      <p:sp>
        <p:nvSpPr>
          <p:cNvPr id="55" name="Shape 53"/>
          <p:cNvSpPr/>
          <p:nvPr/>
        </p:nvSpPr>
        <p:spPr>
          <a:xfrm>
            <a:off x="13716" y="3218688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B2440"/>
          </a:solidFill>
          <a:ln w="19050">
            <a:solidFill>
              <a:srgbClr val="111A2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6868" y="3273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ארגונים ומערכת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641348" y="3438144"/>
            <a:ext cx="128016" cy="128016"/>
          </a:xfrm>
          <a:prstGeom prst="ellipse">
            <a:avLst/>
          </a:prstGeom>
          <a:solidFill>
            <a:srgbClr val="111A2E"/>
          </a:solidFill>
          <a:ln/>
        </p:spPr>
      </p:sp>
      <p:sp>
        <p:nvSpPr>
          <p:cNvPr id="58" name="Shape 56"/>
          <p:cNvSpPr/>
          <p:nvPr/>
        </p:nvSpPr>
        <p:spPr>
          <a:xfrm>
            <a:off x="10163556" y="4233672"/>
            <a:ext cx="146304" cy="14630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10383012" y="4178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151876" y="4233672"/>
            <a:ext cx="146304" cy="146304"/>
          </a:xfrm>
          <a:prstGeom prst="ellipse">
            <a:avLst/>
          </a:prstGeom>
          <a:solidFill>
            <a:srgbClr val="3454D1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371332" y="4178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140196" y="4233672"/>
            <a:ext cx="146304" cy="146304"/>
          </a:xfrm>
          <a:prstGeom prst="ellipse">
            <a:avLst/>
          </a:prstGeom>
          <a:solidFill>
            <a:srgbClr val="E1701A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6359652" y="4178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Admin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128516" y="4233672"/>
            <a:ext cx="146304" cy="146304"/>
          </a:xfrm>
          <a:prstGeom prst="ellipse">
            <a:avLst/>
          </a:prstGeom>
          <a:solidFill>
            <a:srgbClr val="111A2E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4347972" y="4178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FlowBoard  | 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2026-09-08T07:34:19Z</dcterms:created>
  <dcterms:modified xsi:type="dcterms:W3CDTF">2026-09-08T07:34:19Z</dcterms:modified>
</cp:coreProperties>
</file>